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7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</p:sldIdLst>
  <p:sldSz cx="14630400" cy="8229600"/>
  <p:notesSz cx="8229600" cy="14630400"/>
  <p:embeddedFontLst>
    <p:embeddedFont>
      <p:font typeface="Arial Black" panose="020B0A04020102020204" pitchFamily="34" charset="0"/>
      <p:bold r:id="rId15"/>
    </p:embeddedFont>
    <p:embeddedFont>
      <p:font typeface="Arial Rounded MT Bold" panose="020F0704030504030204" pitchFamily="34" charset="0"/>
      <p:regular r:id="rId16"/>
    </p:embeddedFont>
    <p:embeddedFont>
      <p:font typeface="Bahnschrift SemiBold" panose="020B0502040204020203" pitchFamily="34" charset="0"/>
      <p:bold r:id="rId17"/>
    </p:embeddedFont>
    <p:embeddedFont>
      <p:font typeface="Century" panose="02040604050505020304" pitchFamily="18" charset="0"/>
      <p:regular r:id="rId18"/>
    </p:embeddedFont>
    <p:embeddedFont>
      <p:font typeface="Monotype Corsiva" panose="03010101010201010101" pitchFamily="66" charset="0"/>
      <p:italic r:id="rId19"/>
    </p:embeddedFont>
    <p:embeddedFont>
      <p:font typeface="MuseoModerno Medium" panose="020B0604020202020204" charset="0"/>
      <p:regular r:id="rId20"/>
    </p:embeddedFont>
    <p:embeddedFont>
      <p:font typeface="Rockwell Condensed" panose="02060603050405020104" pitchFamily="18" charset="0"/>
      <p:regular r:id="rId21"/>
      <p:bold r:id="rId22"/>
    </p:embeddedFont>
    <p:embeddedFont>
      <p:font typeface="Sitka Banner Semibold" pitchFamily="2" charset="0"/>
      <p:bold r:id="rId23"/>
      <p:boldItalic r:id="rId24"/>
    </p:embeddedFont>
    <p:embeddedFont>
      <p:font typeface="Sitka Heading Semibold" pitchFamily="2" charset="0"/>
      <p:bold r:id="rId25"/>
      <p:boldItalic r:id="rId26"/>
    </p:embeddedFont>
    <p:embeddedFont>
      <p:font typeface="Source Sans 3" panose="020B0604020202020204" charset="0"/>
      <p:regular r:id="rId27"/>
    </p:embeddedFont>
    <p:embeddedFont>
      <p:font typeface="Trebuchet MS" panose="020B0603020202020204" pitchFamily="34" charset="0"/>
      <p:regular r:id="rId28"/>
      <p:bold r:id="rId29"/>
      <p:italic r:id="rId30"/>
      <p:boldItalic r:id="rId31"/>
    </p:embeddedFont>
    <p:embeddedFont>
      <p:font typeface="Wingdings 3" panose="05040102010807070707" pitchFamily="18" charset="2"/>
      <p:regular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1380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481" y="2885441"/>
            <a:ext cx="9320323" cy="1975562"/>
          </a:xfrm>
        </p:spPr>
        <p:txBody>
          <a:bodyPr anchor="b">
            <a:noAutofit/>
          </a:bodyPr>
          <a:lstStyle>
            <a:lvl1pPr algn="r">
              <a:defRPr sz="648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8481" y="4861000"/>
            <a:ext cx="9320323" cy="131627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5289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33990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3241041"/>
            <a:ext cx="10316002" cy="2191897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42569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1" y="2592707"/>
            <a:ext cx="5020842" cy="46569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7964" y="2592707"/>
            <a:ext cx="5020841" cy="4656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4649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894" y="2593180"/>
            <a:ext cx="502274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0894" y="3284695"/>
            <a:ext cx="5022748" cy="396494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6059" y="2593180"/>
            <a:ext cx="5022742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6062" y="3284695"/>
            <a:ext cx="5022740" cy="396494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20467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478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5205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1798325"/>
            <a:ext cx="4625434" cy="1534159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2554" y="617910"/>
            <a:ext cx="5416249" cy="66317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1" y="3332483"/>
            <a:ext cx="4625434" cy="3101339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476" indent="0">
              <a:buNone/>
              <a:defRPr sz="1680"/>
            </a:lvl2pPr>
            <a:lvl3pPr marL="1096951" indent="0">
              <a:buNone/>
              <a:defRPr sz="1440"/>
            </a:lvl3pPr>
            <a:lvl4pPr marL="1645427" indent="0">
              <a:buNone/>
              <a:defRPr sz="1200"/>
            </a:lvl4pPr>
            <a:lvl5pPr marL="2193901" indent="0">
              <a:buNone/>
              <a:defRPr sz="1200"/>
            </a:lvl5pPr>
            <a:lvl6pPr marL="2742377" indent="0">
              <a:buNone/>
              <a:defRPr sz="1200"/>
            </a:lvl6pPr>
            <a:lvl7pPr marL="3290852" indent="0">
              <a:buNone/>
              <a:defRPr sz="1200"/>
            </a:lvl7pPr>
            <a:lvl8pPr marL="3839328" indent="0">
              <a:buNone/>
              <a:defRPr sz="1200"/>
            </a:lvl8pPr>
            <a:lvl9pPr marL="4387804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37362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5760720"/>
            <a:ext cx="1031600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801" y="731520"/>
            <a:ext cx="10316002" cy="4614862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2" y="6440806"/>
            <a:ext cx="10316000" cy="808829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15488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731520"/>
            <a:ext cx="10316002" cy="40843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35801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39367" y="4358640"/>
            <a:ext cx="8669429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562677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2318386"/>
            <a:ext cx="10316002" cy="3114552"/>
          </a:xfrm>
        </p:spPr>
        <p:txBody>
          <a:bodyPr anchor="b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2061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5140122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731520"/>
            <a:ext cx="10305844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98716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23630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61208" y="731520"/>
            <a:ext cx="1565692" cy="630174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2" y="731520"/>
            <a:ext cx="8472180" cy="63017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25726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00149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07152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6825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4752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57525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3240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45409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8747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5364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995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1" y="2592707"/>
            <a:ext cx="10316002" cy="4656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46160" y="7249635"/>
            <a:ext cx="109432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801" y="7249635"/>
            <a:ext cx="755713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08796" y="7249635"/>
            <a:ext cx="82000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4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7" r:id="rId20"/>
    <p:sldLayoutId id="2147483708" r:id="rId21"/>
    <p:sldLayoutId id="2147483709" r:id="rId22"/>
    <p:sldLayoutId id="2147483710" r:id="rId23"/>
    <p:sldLayoutId id="2147483711" r:id="rId24"/>
    <p:sldLayoutId id="2147483712" r:id="rId25"/>
    <p:sldLayoutId id="2147483713" r:id="rId26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37063"/>
            <a:ext cx="7556421" cy="214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onotype Corsiva" panose="03010101010201010101" pitchFamily="66" charset="0"/>
                <a:ea typeface="MuseoModerno Medium" pitchFamily="34" charset="-122"/>
                <a:cs typeface="MuseoModerno Medium" pitchFamily="34" charset="-120"/>
              </a:rPr>
              <a:t>SRAAP University Attendance Portal</a:t>
            </a:r>
            <a:endParaRPr lang="en-US" sz="4450" dirty="0">
              <a:latin typeface="Monotype Corsiva" panose="03010101010201010101" pitchFamily="66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8036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Welcome to the final prototype presentation for the SRAAP University Attendance Portal. This system streamlines attendance tracking for students, faculty, and administration.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2B4150"/>
              </a:solidFill>
              <a:latin typeface="Source Sans 3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itka Heading Semibold" pitchFamily="2" charset="0"/>
              </a:rPr>
              <a:t>TEAM MEMBERS :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itka Banner Semibold" pitchFamily="2" charset="0"/>
              </a:rPr>
              <a:t>P.SRINATH </a:t>
            </a:r>
            <a:r>
              <a:rPr lang="en-US" sz="1750" dirty="0">
                <a:solidFill>
                  <a:srgbClr val="2B4150"/>
                </a:solidFill>
                <a:latin typeface="Sitka Heading Semibold" pitchFamily="2" charset="0"/>
              </a:rPr>
              <a:t>(</a:t>
            </a:r>
            <a:r>
              <a:rPr lang="en-US" sz="1750" dirty="0">
                <a:solidFill>
                  <a:srgbClr val="2B4150"/>
                </a:solidFill>
                <a:latin typeface="Arial Rounded MT Bold" panose="020F0704030504030204" pitchFamily="34" charset="0"/>
              </a:rPr>
              <a:t>2403A51015)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Century" panose="02040604050505020304" pitchFamily="18" charset="0"/>
              </a:rPr>
              <a:t>B.RAKESH </a:t>
            </a:r>
            <a:r>
              <a:rPr lang="en-US" sz="1750" dirty="0">
                <a:solidFill>
                  <a:srgbClr val="2B4150"/>
                </a:solidFill>
                <a:latin typeface="Bahnschrift SemiBold" panose="020B0502040204020203" pitchFamily="34" charset="0"/>
              </a:rPr>
              <a:t>(2403A51021)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Century" panose="02040604050505020304" pitchFamily="18" charset="0"/>
              </a:rPr>
              <a:t>B.SHIVA TEJA </a:t>
            </a:r>
            <a:r>
              <a:rPr lang="en-US" sz="1750" dirty="0">
                <a:solidFill>
                  <a:srgbClr val="2B4150"/>
                </a:solidFill>
                <a:latin typeface="Bahnschrift SemiBold" panose="020B0502040204020203" pitchFamily="34" charset="0"/>
              </a:rPr>
              <a:t>(2403A51025)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2B4150"/>
              </a:solidFill>
              <a:latin typeface="Sitka Heading Semibold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9943" y="752832"/>
            <a:ext cx="6647736" cy="51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124E73"/>
                </a:solidFill>
                <a:latin typeface="Arial" panose="020B0604020202020204" pitchFamily="34" charset="0"/>
                <a:ea typeface="MuseoModerno Medium" pitchFamily="34" charset="-122"/>
                <a:cs typeface="Arial" panose="020B0604020202020204" pitchFamily="34" charset="0"/>
              </a:rPr>
              <a:t>Project Objectives &amp; Key Features</a:t>
            </a:r>
            <a:endParaRPr lang="en-US" sz="3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09943" y="1579721"/>
            <a:ext cx="7696914" cy="1236583"/>
          </a:xfrm>
          <a:prstGeom prst="roundRect">
            <a:avLst>
              <a:gd name="adj" fmla="val 8873"/>
            </a:avLst>
          </a:prstGeom>
          <a:solidFill>
            <a:srgbClr val="FFFCF5"/>
          </a:solidFill>
          <a:ln w="22860">
            <a:solidFill>
              <a:srgbClr val="D9D4C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87083" y="1579721"/>
            <a:ext cx="91440" cy="1236583"/>
          </a:xfrm>
          <a:prstGeom prst="roundRect">
            <a:avLst>
              <a:gd name="adj" fmla="val 33912"/>
            </a:avLst>
          </a:prstGeom>
          <a:solidFill>
            <a:srgbClr val="325F7B"/>
          </a:solidFill>
          <a:ln/>
        </p:spPr>
      </p:sp>
      <p:sp>
        <p:nvSpPr>
          <p:cNvPr id="6" name="Text 3"/>
          <p:cNvSpPr/>
          <p:nvPr/>
        </p:nvSpPr>
        <p:spPr>
          <a:xfrm>
            <a:off x="6508075" y="1809274"/>
            <a:ext cx="258401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B4150"/>
                </a:solidFill>
                <a:latin typeface="Arial" panose="020B0604020202020204" pitchFamily="34" charset="0"/>
                <a:ea typeface="MuseoModerno Medium" pitchFamily="34" charset="-122"/>
                <a:cs typeface="Arial" panose="020B0604020202020204" pitchFamily="34" charset="0"/>
              </a:rPr>
              <a:t>Simplified Login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508075" y="2256115"/>
            <a:ext cx="7169229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role-based access for students, faculty, and administrators.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09943" y="3022997"/>
            <a:ext cx="7696914" cy="1236583"/>
          </a:xfrm>
          <a:prstGeom prst="roundRect">
            <a:avLst>
              <a:gd name="adj" fmla="val 8873"/>
            </a:avLst>
          </a:prstGeom>
          <a:solidFill>
            <a:srgbClr val="FFFCF5"/>
          </a:solidFill>
          <a:ln w="22860">
            <a:solidFill>
              <a:srgbClr val="D9D4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87083" y="3022997"/>
            <a:ext cx="91440" cy="1236583"/>
          </a:xfrm>
          <a:prstGeom prst="roundRect">
            <a:avLst>
              <a:gd name="adj" fmla="val 33912"/>
            </a:avLst>
          </a:prstGeom>
          <a:solidFill>
            <a:srgbClr val="325F7B"/>
          </a:solidFill>
          <a:ln/>
        </p:spPr>
      </p:sp>
      <p:sp>
        <p:nvSpPr>
          <p:cNvPr id="10" name="Text 7"/>
          <p:cNvSpPr/>
          <p:nvPr/>
        </p:nvSpPr>
        <p:spPr>
          <a:xfrm>
            <a:off x="6508075" y="3252549"/>
            <a:ext cx="3499128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B4150"/>
                </a:solidFill>
                <a:latin typeface="Arial" panose="020B0604020202020204" pitchFamily="34" charset="0"/>
                <a:ea typeface="MuseoModerno Medium" pitchFamily="34" charset="-122"/>
                <a:cs typeface="Arial" panose="020B0604020202020204" pitchFamily="34" charset="0"/>
              </a:rPr>
              <a:t>Efficient Data Management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508075" y="3699391"/>
            <a:ext cx="7169229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Centralised storage and export functions for attendance records.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09943" y="4466273"/>
            <a:ext cx="7696914" cy="1236583"/>
          </a:xfrm>
          <a:prstGeom prst="roundRect">
            <a:avLst>
              <a:gd name="adj" fmla="val 8873"/>
            </a:avLst>
          </a:prstGeom>
          <a:solidFill>
            <a:srgbClr val="FFFCF5"/>
          </a:solidFill>
          <a:ln w="22860">
            <a:solidFill>
              <a:srgbClr val="D9D4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87083" y="4466273"/>
            <a:ext cx="91440" cy="1236583"/>
          </a:xfrm>
          <a:prstGeom prst="roundRect">
            <a:avLst>
              <a:gd name="adj" fmla="val 33912"/>
            </a:avLst>
          </a:prstGeom>
          <a:solidFill>
            <a:srgbClr val="325F7B"/>
          </a:solidFill>
          <a:ln/>
        </p:spPr>
      </p:sp>
      <p:sp>
        <p:nvSpPr>
          <p:cNvPr id="14" name="Text 11"/>
          <p:cNvSpPr/>
          <p:nvPr/>
        </p:nvSpPr>
        <p:spPr>
          <a:xfrm>
            <a:off x="6508075" y="4695825"/>
            <a:ext cx="258401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B4150"/>
                </a:solidFill>
                <a:latin typeface="Arial" panose="020B0604020202020204" pitchFamily="34" charset="0"/>
                <a:ea typeface="MuseoModerno Medium" pitchFamily="34" charset="-122"/>
                <a:cs typeface="Arial" panose="020B0604020202020204" pitchFamily="34" charset="0"/>
              </a:rPr>
              <a:t>Faculty Tools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508075" y="5142667"/>
            <a:ext cx="7169229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Intuitive interface for marking attendance and managing correction requests.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09943" y="5909548"/>
            <a:ext cx="7696914" cy="1567220"/>
          </a:xfrm>
          <a:prstGeom prst="roundRect">
            <a:avLst>
              <a:gd name="adj" fmla="val 7001"/>
            </a:avLst>
          </a:prstGeom>
          <a:solidFill>
            <a:srgbClr val="FFFCF5"/>
          </a:solidFill>
          <a:ln w="22860">
            <a:solidFill>
              <a:srgbClr val="D9D4C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87083" y="5909548"/>
            <a:ext cx="91440" cy="1567220"/>
          </a:xfrm>
          <a:prstGeom prst="roundRect">
            <a:avLst>
              <a:gd name="adj" fmla="val 33912"/>
            </a:avLst>
          </a:prstGeom>
          <a:solidFill>
            <a:srgbClr val="325F7B"/>
          </a:solidFill>
          <a:ln/>
        </p:spPr>
      </p:sp>
      <p:sp>
        <p:nvSpPr>
          <p:cNvPr id="18" name="Text 15"/>
          <p:cNvSpPr/>
          <p:nvPr/>
        </p:nvSpPr>
        <p:spPr>
          <a:xfrm>
            <a:off x="6508075" y="6139101"/>
            <a:ext cx="258401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B4150"/>
                </a:solidFill>
                <a:latin typeface="Arial" panose="020B0604020202020204" pitchFamily="34" charset="0"/>
                <a:ea typeface="MuseoModerno Medium" pitchFamily="34" charset="-122"/>
                <a:cs typeface="Arial" panose="020B0604020202020204" pitchFamily="34" charset="0"/>
              </a:rPr>
              <a:t>Student Visibility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508075" y="6585942"/>
            <a:ext cx="7169229" cy="66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Clear overview of attendance percentages and detailed records with actionable requests.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2394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24E73"/>
                </a:solidFill>
                <a:latin typeface="Arial" panose="020B0604020202020204" pitchFamily="34" charset="0"/>
                <a:ea typeface="MuseoModerno Medium" pitchFamily="34" charset="-122"/>
                <a:cs typeface="Arial" panose="020B0604020202020204" pitchFamily="34" charset="0"/>
              </a:rPr>
              <a:t>Key Stakeholders</a:t>
            </a:r>
            <a:endParaRPr lang="en-US" sz="35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04454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SRAAP University Attendance Portal is designed to benefit various groups within the university ecosystem.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662601"/>
            <a:ext cx="680442" cy="6804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626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B4150"/>
                </a:solidFill>
                <a:latin typeface="Arial" panose="020B0604020202020204" pitchFamily="34" charset="0"/>
                <a:ea typeface="MuseoModerno Medium" pitchFamily="34" charset="-122"/>
                <a:cs typeface="Arial" panose="020B0604020202020204" pitchFamily="34" charset="0"/>
              </a:rPr>
              <a:t>University Faculty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5116949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Simplifies the process of recording and managing class attendance, reducing administrative burden.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3662601"/>
            <a:ext cx="680442" cy="6804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4626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B4150"/>
                </a:solidFill>
                <a:latin typeface="Arial" panose="020B0604020202020204" pitchFamily="34" charset="0"/>
                <a:ea typeface="MuseoModerno Medium" pitchFamily="34" charset="-122"/>
                <a:cs typeface="Arial" panose="020B0604020202020204" pitchFamily="34" charset="0"/>
              </a:rPr>
              <a:t>Students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235893" y="5116949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transparent access to their attendance records and enables submission of correction requests.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3662601"/>
            <a:ext cx="680442" cy="6804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4626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B4150"/>
                </a:solidFill>
                <a:latin typeface="Arial" panose="020B0604020202020204" pitchFamily="34" charset="0"/>
                <a:ea typeface="MuseoModerno Medium" pitchFamily="34" charset="-122"/>
                <a:cs typeface="Arial" panose="020B0604020202020204" pitchFamily="34" charset="0"/>
              </a:rPr>
              <a:t>Administrators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9677995" y="5116949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Offers robust data export and management tools for oversight and reporting.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6507" y="492204"/>
            <a:ext cx="3616643" cy="447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24E73"/>
                </a:solidFill>
                <a:latin typeface="Arial" panose="020B0604020202020204" pitchFamily="34" charset="0"/>
                <a:ea typeface="MuseoModerno Medium" pitchFamily="34" charset="-122"/>
                <a:cs typeface="Arial" panose="020B0604020202020204" pitchFamily="34" charset="0"/>
              </a:rPr>
              <a:t>Technologies Utilised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6507" y="1297662"/>
            <a:ext cx="13377386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SRAAP portal leverages standard web technologies to ensure accessibility and maintainability.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6507" y="1946553"/>
            <a:ext cx="6470332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B415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Programming Languages: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6507" y="2394109"/>
            <a:ext cx="6470332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HTML for structure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507" y="2743200"/>
            <a:ext cx="6470332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CSS for styling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6507" y="3092291"/>
            <a:ext cx="6470332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JavaScript for interactivity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6507" y="3539847"/>
            <a:ext cx="6470332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B415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Tools &amp; Software: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6507" y="3987403"/>
            <a:ext cx="6470332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 Browser (e.g., Chrome, Firefox)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507" y="4336494"/>
            <a:ext cx="6470332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Code Editor (e.g., VS Code)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507" y="4685586"/>
            <a:ext cx="6470332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Version Control (e.g., Git)</a:t>
            </a:r>
            <a:endParaRPr lang="en-US" sz="1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181" y="1986796"/>
            <a:ext cx="6470332" cy="64703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8670" y="619720"/>
            <a:ext cx="7146488" cy="563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124E73"/>
                </a:solidFill>
                <a:latin typeface="Arial Black" panose="020B0A04020102020204" pitchFamily="34" charset="0"/>
                <a:ea typeface="MuseoModerno Medium" pitchFamily="34" charset="-122"/>
                <a:cs typeface="MuseoModerno Medium" pitchFamily="34" charset="-120"/>
              </a:rPr>
              <a:t>User Authentication: Login Portal</a:t>
            </a:r>
            <a:endParaRPr lang="en-US" sz="3500" b="1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8670" y="1292901"/>
            <a:ext cx="13053060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login interface is designed for simplicity and security, allowing users to access the portal based on their assigned roles.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88670" y="1792842"/>
            <a:ext cx="7611904" cy="721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Role-Based Access:</a:t>
            </a: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Users log in as a Student, Faculty member, or Administrator. This ensures that each user only sees and interacts with relevant features.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8670" y="2671140"/>
            <a:ext cx="7611904" cy="721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Sample Credentials:</a:t>
            </a: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convenient option to display sample login details for testing purposes, facilitating quick demonstration and onboarding.</a:t>
            </a: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161324-1641-178E-35EE-3D21C3943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001" y="3692189"/>
            <a:ext cx="8179038" cy="44083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6507" y="492204"/>
            <a:ext cx="7981593" cy="447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24E73"/>
                </a:solidFill>
                <a:latin typeface="Arial" panose="020B0604020202020204" pitchFamily="34" charset="0"/>
                <a:ea typeface="MuseoModerno Medium" pitchFamily="34" charset="-122"/>
                <a:cs typeface="Arial" panose="020B0604020202020204" pitchFamily="34" charset="0"/>
              </a:rPr>
              <a:t>Administrator Dashboard: Data Management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6507" y="1297662"/>
            <a:ext cx="13377386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administrator dashboard provides essential functions for overseeing the attendance data.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541181" y="1946553"/>
            <a:ext cx="6470332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Export Attendance Data:</a:t>
            </a: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Allows administrators to export all attendance records in JSON format for external analysis or archiving.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541181" y="2680573"/>
            <a:ext cx="6470332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Reset Demo Data:</a:t>
            </a: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crucial feature for testing and demonstrations, enabling a clean slate for new trials.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541181" y="3414593"/>
            <a:ext cx="6470332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Local Storage:</a:t>
            </a: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Data is stored locally in localStorage, making it efficient for prototype testing and development.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6CBF95-AA45-6A8E-1775-21E4394F6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07" y="4366906"/>
            <a:ext cx="11326806" cy="32716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4475" y="443508"/>
            <a:ext cx="6340197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Faculty Dashboard: Marking Attendance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4475" y="1169194"/>
            <a:ext cx="13501449" cy="258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Faculty members have a comprehensive interface to accurately record class attendance.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4475" y="1753791"/>
            <a:ext cx="5859185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Detailed Class Input:</a:t>
            </a: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Faculty can specify department, batch, subject, hour slots, and topic discussed for each session.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4475" y="2415183"/>
            <a:ext cx="5859185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Flexible Selection:</a:t>
            </a: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Multi-select options for hour slots (Ctrl/Shift click) enhance usability.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4475" y="3076575"/>
            <a:ext cx="5859185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Effortless Marking:</a:t>
            </a: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Buttons to "Mark All Present" or "Mark All Absent" speed up the process, with individual student toggles for exceptions.</a:t>
            </a:r>
            <a:endParaRPr lang="en-US" sz="1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662" y="1789986"/>
            <a:ext cx="7248763" cy="72487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6507" y="492204"/>
            <a:ext cx="6999565" cy="447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24E73"/>
                </a:solidFill>
                <a:latin typeface="Arial" panose="020B0604020202020204" pitchFamily="34" charset="0"/>
                <a:ea typeface="MuseoModerno Medium" pitchFamily="34" charset="-122"/>
                <a:cs typeface="Arial" panose="020B0604020202020204" pitchFamily="34" charset="0"/>
              </a:rPr>
              <a:t>Faculty Dashboard: Managing Requests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6507" y="1297662"/>
            <a:ext cx="13377386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Beyond marking attendance, faculty can efficiently handle student-submitted correction requests.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155740" y="2567100"/>
            <a:ext cx="6470332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Load Saved / Modify:</a:t>
            </a: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Option to retrieve and amend previously submitted attendance records.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55740" y="3828335"/>
            <a:ext cx="6470332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Pending Correction Requests:</a:t>
            </a: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dedicated section to view and address requests from students regarding their attendance status.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55740" y="4946338"/>
            <a:ext cx="6470332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ensures transparency and fairness in attendance management.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FDCDD6-DF33-E6B1-C775-92E23D211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563" y="278781"/>
            <a:ext cx="7545681" cy="749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86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6507" y="492204"/>
            <a:ext cx="7348895" cy="447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24E73"/>
                </a:solidFill>
                <a:latin typeface="Arial" panose="020B0604020202020204" pitchFamily="34" charset="0"/>
                <a:ea typeface="MuseoModerno Medium" pitchFamily="34" charset="-122"/>
                <a:cs typeface="Arial" panose="020B0604020202020204" pitchFamily="34" charset="0"/>
              </a:rPr>
              <a:t>Student Dashboard: Attendance Overview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6507" y="1647512"/>
            <a:ext cx="13377386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can monitor their attendance records and overall percentage at a glance.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451971" y="1369218"/>
            <a:ext cx="6470332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Overall Percentage:</a:t>
            </a: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prominent display of the student's attendance percentage, accompanied by a descriptive message.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51971" y="2212895"/>
            <a:ext cx="6470332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Recent Entries:</a:t>
            </a: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scrollable table showing detailed attendance records, including date, subject, hour, status, and faculty name.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51971" y="3092311"/>
            <a:ext cx="6470332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Actionable Records:</a:t>
            </a: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Students can initiate correction requests directly from their attendance history.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E4C220-5A24-75FD-6064-27D4D01DE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07" y="3975265"/>
            <a:ext cx="9223891" cy="37621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6507" y="492204"/>
            <a:ext cx="7539276" cy="447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24E73"/>
                </a:solidFill>
                <a:latin typeface="Arial" panose="020B0604020202020204" pitchFamily="34" charset="0"/>
                <a:ea typeface="MuseoModerno Medium" pitchFamily="34" charset="-122"/>
                <a:cs typeface="Arial" panose="020B0604020202020204" pitchFamily="34" charset="0"/>
              </a:rPr>
              <a:t>Student Dashboard: Request Management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6507" y="1297662"/>
            <a:ext cx="13377386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can track the status of their submitted attendance correction requests.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6507" y="1946553"/>
            <a:ext cx="6470332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Your Requests (Status):</a:t>
            </a: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dedicated section listing all submitted correction requests, indicating their current status (e.g., pending, approved, rejected).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6507" y="2680573"/>
            <a:ext cx="6470332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feature promotes clear communication and resolution of attendance discrepancies.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181" y="1986796"/>
            <a:ext cx="6470332" cy="64703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97CA50-C18A-AB96-0030-77A460E5679F}"/>
              </a:ext>
            </a:extLst>
          </p:cNvPr>
          <p:cNvSpPr txBox="1"/>
          <p:nvPr/>
        </p:nvSpPr>
        <p:spPr>
          <a:xfrm>
            <a:off x="1786983" y="3017642"/>
            <a:ext cx="7320774" cy="608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9600" b="1" dirty="0">
                <a:solidFill>
                  <a:srgbClr val="2B4150"/>
                </a:solidFill>
                <a:latin typeface="Rockwell Condensed" panose="02060603050405020104" pitchFamily="18" charset="0"/>
                <a:ea typeface="Source Sans 3" pitchFamily="34" charset="-122"/>
                <a:cs typeface="Source Sans 3" pitchFamily="34" charset="-120"/>
              </a:rPr>
              <a:t>THANK YOU.</a:t>
            </a:r>
            <a:endParaRPr lang="en-US" sz="9600" b="1" dirty="0">
              <a:latin typeface="Rockwell Condensed" panose="020606030504050201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02042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106</TotalTime>
  <Words>673</Words>
  <Application>Microsoft Office PowerPoint</Application>
  <PresentationFormat>Custom</PresentationFormat>
  <Paragraphs>73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6" baseType="lpstr">
      <vt:lpstr>Trebuchet MS</vt:lpstr>
      <vt:lpstr>Monotype Corsiva</vt:lpstr>
      <vt:lpstr>Sitka Heading Semibold</vt:lpstr>
      <vt:lpstr>Wingdings 3</vt:lpstr>
      <vt:lpstr>Arial Black</vt:lpstr>
      <vt:lpstr>Century</vt:lpstr>
      <vt:lpstr>Arial Rounded MT Bold</vt:lpstr>
      <vt:lpstr>Source Sans 3</vt:lpstr>
      <vt:lpstr>Sitka Banner Semibold</vt:lpstr>
      <vt:lpstr>MuseoModerno Medium</vt:lpstr>
      <vt:lpstr>Rockwell Condensed</vt:lpstr>
      <vt:lpstr>Bahnschrift SemiBold</vt:lpstr>
      <vt:lpstr>Arial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Mani Chandana</dc:creator>
  <cp:lastModifiedBy>srinath poodari</cp:lastModifiedBy>
  <cp:revision>4</cp:revision>
  <dcterms:created xsi:type="dcterms:W3CDTF">2025-11-12T13:03:04Z</dcterms:created>
  <dcterms:modified xsi:type="dcterms:W3CDTF">2025-11-13T05:22:45Z</dcterms:modified>
</cp:coreProperties>
</file>